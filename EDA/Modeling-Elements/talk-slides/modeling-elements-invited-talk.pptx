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Calibri"/>
              </a:rPr>
              <a:t>Modeling Elements from Joint Distribution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B66"/>
                </a:solidFill>
                <a:latin typeface="Calibri"/>
              </a:rPr>
              <a:t>A taxonomy linking data, model and prediction of manufacturing AI/ML to distribution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Calibri"/>
              </a:rPr>
              <a:t>1 /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Calibri"/>
              </a:rPr>
              <a:t>Good predictions come from good data and good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14600"/>
            <a:ext cx="3108960" cy="123444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P(X)  Good Data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data marginal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shift · drift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514600"/>
            <a:ext cx="3108960" cy="1234440"/>
          </a:xfrm>
          <a:prstGeom prst="round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P(Y|X)  Good Model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relation X → Y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shift · drift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4434840"/>
            <a:ext cx="3108960" cy="1234440"/>
          </a:xfrm>
          <a:prstGeom prst="roundRect">
            <a:avLst/>
          </a:prstGeom>
          <a:solidFill>
            <a:srgbClr val="38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P(Y)  Good Prediction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output marginal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shift · drift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3749039"/>
            <a:ext cx="1188720" cy="685801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4937760" y="3749039"/>
            <a:ext cx="1188720" cy="685801"/>
          </a:xfrm>
          <a:prstGeom prst="line">
            <a:avLst/>
          </a:prstGeom>
          <a:ln w="25400">
            <a:solidFill>
              <a:srgbClr val="555B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576072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A4C93"/>
                </a:solidFill>
                <a:latin typeface="Calibri"/>
              </a:rPr>
              <a:t>Estimation error: P(Y|X)</a:t>
            </a:r>
            <a:r>
              <a:rPr sz="1400" b="0" baseline="-25000">
                <a:solidFill>
                  <a:srgbClr val="6A4C93"/>
                </a:solidFill>
                <a:latin typeface="Calibri"/>
              </a:rPr>
              <a:t>model</a:t>
            </a:r>
            <a:r>
              <a:rPr sz="1400" b="0">
                <a:solidFill>
                  <a:srgbClr val="6A4C93"/>
                </a:solidFill>
                <a:latin typeface="Calibri"/>
              </a:rPr>
              <a:t> departs from the true P(Y|X), set at training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514600"/>
            <a:ext cx="35661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Chain rule</a:t>
            </a:r>
          </a:p>
          <a:p>
            <a:pPr algn="l"/>
            <a:r>
              <a:rPr sz="1700" b="0">
                <a:solidFill>
                  <a:srgbClr val="1F2A44"/>
                </a:solidFill>
                <a:latin typeface="Calibri"/>
              </a:rPr>
              <a:t>P(X,Y) = P(Y|X) · P(X)</a:t>
            </a:r>
          </a:p>
          <a:p>
            <a:pPr algn="l"/>
            <a:r>
              <a:rPr sz="1700" b="0">
                <a:solidFill>
                  <a:srgbClr val="555B66"/>
                </a:solidFill>
                <a:latin typeface="Calibri"/>
              </a:rPr>
              <a:t/>
            </a:r>
          </a:p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Marginalization</a:t>
            </a:r>
          </a:p>
          <a:p>
            <a:pPr algn="l"/>
            <a:r>
              <a:rPr sz="1700" b="0">
                <a:solidFill>
                  <a:srgbClr val="1F2A44"/>
                </a:solidFill>
                <a:latin typeface="Calibri"/>
              </a:rPr>
              <a:t>P(Y) = ∫ P(Y|X) P(X) dX</a:t>
            </a:r>
          </a:p>
          <a:p>
            <a:pPr algn="l"/>
            <a:r>
              <a:rPr sz="1700" b="0">
                <a:solidFill>
                  <a:srgbClr val="555B66"/>
                </a:solidFill>
                <a:latin typeface="Calibri"/>
              </a:rPr>
              <a:t/>
            </a:r>
          </a:p>
          <a:p>
            <a:pPr algn="l"/>
            <a:r>
              <a:rPr sz="1700" b="1">
                <a:solidFill>
                  <a:srgbClr val="1F2A44"/>
                </a:solidFill>
                <a:latin typeface="Calibri"/>
              </a:rPr>
              <a:t>Change mode</a:t>
            </a:r>
          </a:p>
          <a:p>
            <a:pPr algn="l"/>
            <a:r>
              <a:rPr sz="1700" b="0">
                <a:solidFill>
                  <a:srgbClr val="1F2A44"/>
                </a:solidFill>
                <a:latin typeface="Calibri"/>
              </a:rPr>
              <a:t>Shift: changes at once</a:t>
            </a:r>
          </a:p>
          <a:p>
            <a:pPr algn="l"/>
            <a:r>
              <a:rPr sz="1700" b="0">
                <a:solidFill>
                  <a:srgbClr val="1F2A44"/>
                </a:solidFill>
                <a:latin typeface="Calibri"/>
              </a:rPr>
              <a:t>Drift: changes gradually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Calibri"/>
              </a:rPr>
              <a:t>Prediction from the Joint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B66"/>
                </a:solidFill>
                <a:latin typeface="Calibri"/>
              </a:rPr>
              <a:t>Training data Xi (in-sample) and inference data Xo (out-of-sample) kept apart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Calibri"/>
              </a:rPr>
              <a:t>2 /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388E3C"/>
                </a:solidFill>
                <a:latin typeface="Calibri"/>
              </a:rPr>
              <a:t>P(Y)</a:t>
            </a:r>
            <a:r>
              <a:rPr sz="2400" b="1" baseline="-25000">
                <a:solidFill>
                  <a:srgbClr val="388E3C"/>
                </a:solidFill>
                <a:latin typeface="Calibri"/>
              </a:rPr>
              <a:t>pred</a:t>
            </a:r>
            <a:r>
              <a:rPr sz="2400" b="1">
                <a:solidFill>
                  <a:srgbClr val="1F2A44"/>
                </a:solidFill>
                <a:latin typeface="Calibri"/>
              </a:rPr>
              <a:t>  =  ∫  </a:t>
            </a:r>
            <a:r>
              <a:rPr sz="2400" b="1">
                <a:solidFill>
                  <a:srgbClr val="C55A11"/>
                </a:solidFill>
                <a:latin typeface="Calibri"/>
              </a:rPr>
              <a:t>P(Y | X=x; X</a:t>
            </a:r>
            <a:r>
              <a:rPr sz="2400" b="1" baseline="-25000">
                <a:solidFill>
                  <a:srgbClr val="C55A11"/>
                </a:solidFill>
                <a:latin typeface="Calibri"/>
              </a:rPr>
              <a:t>i</a:t>
            </a:r>
            <a:r>
              <a:rPr sz="2400" b="1">
                <a:solidFill>
                  <a:srgbClr val="C55A11"/>
                </a:solidFill>
                <a:latin typeface="Calibri"/>
              </a:rPr>
              <a:t>)</a:t>
            </a:r>
            <a:r>
              <a:rPr sz="2400" b="1" baseline="-25000">
                <a:solidFill>
                  <a:srgbClr val="C55A11"/>
                </a:solidFill>
                <a:latin typeface="Calibri"/>
              </a:rPr>
              <a:t>model</a:t>
            </a:r>
            <a:r>
              <a:rPr sz="2400" b="1">
                <a:solidFill>
                  <a:srgbClr val="1F2A44"/>
                </a:solidFill>
                <a:latin typeface="Calibri"/>
              </a:rPr>
              <a:t>  ·  </a:t>
            </a:r>
            <a:r>
              <a:rPr sz="2400" b="1">
                <a:solidFill>
                  <a:srgbClr val="2E75B6"/>
                </a:solidFill>
                <a:latin typeface="Calibri"/>
              </a:rPr>
              <a:t>P(X</a:t>
            </a:r>
            <a:r>
              <a:rPr sz="2400" b="1" baseline="-25000">
                <a:solidFill>
                  <a:srgbClr val="2E75B6"/>
                </a:solidFill>
                <a:latin typeface="Calibri"/>
              </a:rPr>
              <a:t>o</a:t>
            </a:r>
            <a:r>
              <a:rPr sz="2400" b="1">
                <a:solidFill>
                  <a:srgbClr val="2E75B6"/>
                </a:solidFill>
                <a:latin typeface="Calibri"/>
              </a:rPr>
              <a:t>=x)</a:t>
            </a:r>
            <a:r>
              <a:rPr sz="2400" b="1" baseline="-25000">
                <a:solidFill>
                  <a:srgbClr val="2E75B6"/>
                </a:solidFill>
                <a:latin typeface="Calibri"/>
              </a:rPr>
              <a:t>true</a:t>
            </a:r>
            <a:r>
              <a:rPr sz="2400" b="1">
                <a:solidFill>
                  <a:srgbClr val="1F2A44"/>
                </a:solidFill>
                <a:latin typeface="Calibri"/>
              </a:rPr>
              <a:t>  dx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14600"/>
            <a:ext cx="3630168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6301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E75B6"/>
                </a:solidFill>
                <a:latin typeface="Calibri"/>
              </a:rPr>
              <a:t>Good Data</a:t>
            </a:r>
          </a:p>
        </p:txBody>
      </p:sp>
      <p:pic>
        <p:nvPicPr>
          <p:cNvPr id="9" name="Picture 8" descr="sch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3108960"/>
            <a:ext cx="356616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279392" y="2514600"/>
            <a:ext cx="3630168" cy="10972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2697480"/>
            <a:ext cx="36301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55A11"/>
                </a:solidFill>
                <a:latin typeface="Calibri"/>
              </a:rPr>
              <a:t>Good Model</a:t>
            </a:r>
          </a:p>
        </p:txBody>
      </p:sp>
      <p:pic>
        <p:nvPicPr>
          <p:cNvPr id="12" name="Picture 11" descr="sch-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824" y="3108960"/>
            <a:ext cx="3566160" cy="246888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01583" y="2514600"/>
            <a:ext cx="3630168" cy="109728"/>
          </a:xfrm>
          <a:prstGeom prst="rect">
            <a:avLst/>
          </a:prstGeom>
          <a:solidFill>
            <a:srgbClr val="38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1583" y="2697480"/>
            <a:ext cx="36301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88E3C"/>
                </a:solidFill>
                <a:latin typeface="Calibri"/>
              </a:rPr>
              <a:t>Good Prediction</a:t>
            </a:r>
          </a:p>
        </p:txBody>
      </p:sp>
      <p:pic>
        <p:nvPicPr>
          <p:cNvPr id="15" name="Picture 14" descr="sch-predi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5" y="3108960"/>
            <a:ext cx="3566160" cy="246888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5623560"/>
            <a:ext cx="11274552" cy="640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623560"/>
            <a:ext cx="1127455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F2A44"/>
                </a:solidFill>
                <a:latin typeface="Calibri"/>
              </a:rPr>
              <a:t>Error = </a:t>
            </a:r>
            <a:r>
              <a:rPr sz="1600" b="1">
                <a:solidFill>
                  <a:srgbClr val="C55A11"/>
                </a:solidFill>
                <a:latin typeface="Calibri"/>
              </a:rPr>
              <a:t>estimation error</a:t>
            </a:r>
            <a:r>
              <a:rPr sz="1600" b="0">
                <a:solidFill>
                  <a:srgbClr val="1F2A44"/>
                </a:solidFill>
                <a:latin typeface="Calibri"/>
              </a:rPr>
              <a:t> (model vs true at training)  +  </a:t>
            </a:r>
            <a:r>
              <a:rPr sz="1600" b="1">
                <a:solidFill>
                  <a:srgbClr val="C55A11"/>
                </a:solidFill>
                <a:latin typeface="Calibri"/>
              </a:rPr>
              <a:t>relation change</a:t>
            </a:r>
            <a:r>
              <a:rPr sz="1600" b="0">
                <a:solidFill>
                  <a:srgbClr val="1F2A44"/>
                </a:solidFill>
                <a:latin typeface="Calibri"/>
              </a:rPr>
              <a:t> (true at training vs now),  weighted by P(X</a:t>
            </a:r>
            <a:r>
              <a:rPr sz="1600" b="0" baseline="-25000">
                <a:solidFill>
                  <a:srgbClr val="1F2A44"/>
                </a:solidFill>
                <a:latin typeface="Calibri"/>
              </a:rPr>
              <a:t>o</a:t>
            </a:r>
            <a:r>
              <a:rPr sz="1600" b="0">
                <a:solidFill>
                  <a:srgbClr val="1F2A44"/>
                </a:solidFill>
                <a:latin typeface="Calibri"/>
              </a:rPr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Calibri"/>
              </a:rPr>
              <a:t>Six Cells and Estimation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B66"/>
                </a:solidFill>
                <a:latin typeface="Calibri"/>
              </a:rPr>
              <a:t>Shift: compare two sets  ·  Drift: track per time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Calibri"/>
              </a:rPr>
              <a:t>3 /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559552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09728" cy="2286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18488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2E75B6"/>
                </a:solidFill>
                <a:latin typeface="Calibri"/>
              </a:rPr>
              <a:t>P(X)  shift · drift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Shift: </a:t>
            </a:r>
            <a:r>
              <a:rPr sz="1500" b="0">
                <a:solidFill>
                  <a:srgbClr val="555B66"/>
                </a:solidFill>
                <a:latin typeface="Calibri"/>
              </a:rPr>
              <a:t>PSI·KS, MMD, domain classifier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Drift: </a:t>
            </a:r>
            <a:r>
              <a:rPr sz="1500" b="0">
                <a:solidFill>
                  <a:srgbClr val="555B66"/>
                </a:solidFill>
                <a:latin typeface="Calibri"/>
              </a:rPr>
              <a:t>T²·SPE control chart, windowed PSI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Respond: </a:t>
            </a:r>
            <a:r>
              <a:rPr sz="1500" b="0">
                <a:solidFill>
                  <a:srgbClr val="555B66"/>
                </a:solidFill>
                <a:latin typeface="Calibri"/>
              </a:rPr>
              <a:t>importance weighting, domain adaptation; recent-window retraining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08760"/>
            <a:ext cx="5559552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109728" cy="2286000"/>
          </a:xfrm>
          <a:prstGeom prst="rect">
            <a:avLst/>
          </a:prstGeom>
          <a:solidFill>
            <a:srgbClr val="38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18488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88E3C"/>
                </a:solidFill>
                <a:latin typeface="Calibri"/>
              </a:rPr>
              <a:t>P(Y)  shift · drift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Shift: </a:t>
            </a:r>
            <a:r>
              <a:rPr sz="1500" b="0">
                <a:solidFill>
                  <a:srgbClr val="555B66"/>
                </a:solidFill>
                <a:latin typeface="Calibri"/>
              </a:rPr>
              <a:t>KS·PSI on metrology values, Shewhart chart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Drift: </a:t>
            </a:r>
            <a:r>
              <a:rPr sz="1500" b="0">
                <a:solidFill>
                  <a:srgbClr val="555B66"/>
                </a:solidFill>
                <a:latin typeface="Calibri"/>
              </a:rPr>
              <a:t>EWMA chart, P(Y)pred monitoring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Respond: </a:t>
            </a:r>
            <a:r>
              <a:rPr sz="1500" b="0">
                <a:solidFill>
                  <a:srgbClr val="555B66"/>
                </a:solidFill>
                <a:latin typeface="Calibri"/>
              </a:rPr>
              <a:t>target redefinition; per-group scaling, target engineering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77639"/>
            <a:ext cx="5559552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977639"/>
            <a:ext cx="109728" cy="2286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87368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C55A11"/>
                </a:solidFill>
                <a:latin typeface="Calibri"/>
              </a:rPr>
              <a:t>P(Y|X)  shift · drift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Shift: </a:t>
            </a:r>
            <a:r>
              <a:rPr sz="1500" b="0">
                <a:solidFill>
                  <a:srgbClr val="555B66"/>
                </a:solidFill>
                <a:latin typeface="Calibri"/>
              </a:rPr>
              <a:t>Binning CDT, event-split comparison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Drift: </a:t>
            </a:r>
            <a:r>
              <a:rPr sz="1500" b="0">
                <a:solidFill>
                  <a:srgbClr val="555B66"/>
                </a:solidFill>
                <a:latin typeface="Calibri"/>
              </a:rPr>
              <a:t>residual CUSUM, Page-Hinkley, ADWIN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Respond: </a:t>
            </a:r>
            <a:r>
              <a:rPr sz="1500" b="0">
                <a:solidFill>
                  <a:srgbClr val="555B66"/>
                </a:solidFill>
                <a:latin typeface="Calibri"/>
              </a:rPr>
              <a:t>retrain after event; recency weighting, adaptive VM update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977639"/>
            <a:ext cx="5559552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977639"/>
            <a:ext cx="109728" cy="2286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87368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6A4C93"/>
                </a:solidFill>
                <a:latin typeface="Calibri"/>
              </a:rPr>
              <a:t>Estimation error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Detect: </a:t>
            </a:r>
            <a:r>
              <a:rPr sz="1500" b="0">
                <a:solidFill>
                  <a:srgbClr val="555B66"/>
                </a:solidFill>
                <a:latin typeface="Calibri"/>
              </a:rPr>
              <a:t>train–validation gap, out-of-range check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Respond: </a:t>
            </a:r>
            <a:r>
              <a:rPr sz="1500" b="0">
                <a:solidFill>
                  <a:srgbClr val="555B66"/>
                </a:solidFill>
                <a:latin typeface="Calibri"/>
              </a:rPr>
              <a:t>PLS·ridge·lasso, tree ensembles, GP·conformal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F2A44"/>
                </a:solidFill>
                <a:latin typeface="Calibri"/>
              </a:rPr>
              <a:t>Validate: </a:t>
            </a:r>
            <a:r>
              <a:rPr sz="1500" b="0">
                <a:solidFill>
                  <a:srgbClr val="555B66"/>
                </a:solidFill>
                <a:latin typeface="Calibri"/>
              </a:rPr>
              <a:t>lot group split + temporal CV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