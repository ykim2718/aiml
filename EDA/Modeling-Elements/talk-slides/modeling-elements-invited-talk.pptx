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1F2A44"/>
                </a:solidFill>
                <a:latin typeface="Calibri"/>
              </a:rPr>
              <a:t>Modeling Elements from Joint Distribution Decomposition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55B66"/>
                </a:solidFill>
                <a:latin typeface="Calibri"/>
              </a:rPr>
              <a:t>A taxonomy linking data, model and prediction of manufacturing AI/ML to distribution shift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Calibri"/>
              </a:rPr>
              <a:t>1 / 3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74552" cy="64008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463040"/>
            <a:ext cx="11274552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1F2A44"/>
                </a:solidFill>
                <a:latin typeface="Calibri"/>
              </a:rPr>
              <a:t>Good predictions come from good data and good models.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2514600"/>
            <a:ext cx="3108960" cy="1234440"/>
          </a:xfrm>
          <a:prstGeom prst="round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P(X)  Good Data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data marginal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covariate shift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0" y="2514600"/>
            <a:ext cx="3108960" cy="1234440"/>
          </a:xfrm>
          <a:prstGeom prst="round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P(Y|X)  Good Model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conditional relation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concept drift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0" y="4434840"/>
            <a:ext cx="3108960" cy="1234440"/>
          </a:xfrm>
          <a:prstGeom prst="roundRect">
            <a:avLst/>
          </a:prstGeom>
          <a:solidFill>
            <a:srgbClr val="388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P(Y)  Good Prediction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output marginal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prior shift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468880" y="3749039"/>
            <a:ext cx="1188720" cy="685801"/>
          </a:xfrm>
          <a:prstGeom prst="line">
            <a:avLst/>
          </a:prstGeom>
          <a:ln w="25400">
            <a:solidFill>
              <a:srgbClr val="555B6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4937760" y="3749039"/>
            <a:ext cx="1188720" cy="685801"/>
          </a:xfrm>
          <a:prstGeom prst="line">
            <a:avLst/>
          </a:prstGeom>
          <a:ln w="25400">
            <a:solidFill>
              <a:srgbClr val="555B6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914400" y="5760720"/>
            <a:ext cx="6766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6A4C93"/>
                </a:solidFill>
                <a:latin typeface="Calibri"/>
              </a:rPr>
              <a:t>Model estimator: orthogonal axis, how P(Y|X) is estimated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2514600"/>
            <a:ext cx="35661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Chain rule</a:t>
            </a:r>
          </a:p>
          <a:p>
            <a:pPr algn="l"/>
            <a:r>
              <a:rPr sz="1700" b="0">
                <a:solidFill>
                  <a:srgbClr val="1F2A44"/>
                </a:solidFill>
                <a:latin typeface="Calibri"/>
              </a:rPr>
              <a:t>P(X,Y) = P(Y|X) · P(X)</a:t>
            </a:r>
          </a:p>
          <a:p>
            <a:pPr algn="l"/>
            <a:r>
              <a:rPr sz="1700" b="0">
                <a:solidFill>
                  <a:srgbClr val="555B66"/>
                </a:solidFill>
                <a:latin typeface="Calibri"/>
              </a:rPr>
              <a:t/>
            </a:r>
          </a:p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Marginalization</a:t>
            </a:r>
          </a:p>
          <a:p>
            <a:pPr algn="l"/>
            <a:r>
              <a:rPr sz="1700" b="0">
                <a:solidFill>
                  <a:srgbClr val="1F2A44"/>
                </a:solidFill>
                <a:latin typeface="Calibri"/>
              </a:rPr>
              <a:t>P(Y) = ∫ P(Y|X) P(X) dX</a:t>
            </a:r>
          </a:p>
          <a:p>
            <a:pPr algn="l"/>
            <a:r>
              <a:rPr sz="1700" b="0">
                <a:solidFill>
                  <a:srgbClr val="555B66"/>
                </a:solidFill>
                <a:latin typeface="Calibri"/>
              </a:rPr>
              <a:t/>
            </a:r>
          </a:p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Manufacturing is X → Y</a:t>
            </a:r>
          </a:p>
          <a:p>
            <a:pPr algn="l"/>
            <a:r>
              <a:rPr sz="1700" b="0">
                <a:solidFill>
                  <a:srgbClr val="555B66"/>
                </a:solidFill>
                <a:latin typeface="Calibri"/>
              </a:rPr>
              <a:t>A shift in P(Y) is mostly the result of a change in P(X) or P(Y|X).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1F2A44"/>
                </a:solidFill>
                <a:latin typeface="Calibri"/>
              </a:rPr>
              <a:t>Prediction from the Joint Distribution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55B66"/>
                </a:solidFill>
                <a:latin typeface="Calibri"/>
              </a:rPr>
              <a:t>Training data Xi (in-sample) and inference data Xo (out-of-sample) kept apart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Calibri"/>
              </a:rPr>
              <a:t>2 / 3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74552" cy="64008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463040"/>
            <a:ext cx="11274552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388E3C"/>
                </a:solidFill>
                <a:latin typeface="Calibri"/>
              </a:rPr>
              <a:t>P(Y)</a:t>
            </a:r>
            <a:r>
              <a:rPr sz="2400" b="1" baseline="-25000">
                <a:solidFill>
                  <a:srgbClr val="388E3C"/>
                </a:solidFill>
                <a:latin typeface="Calibri"/>
              </a:rPr>
              <a:t>pred</a:t>
            </a:r>
            <a:r>
              <a:rPr sz="2400" b="1">
                <a:solidFill>
                  <a:srgbClr val="1F2A44"/>
                </a:solidFill>
                <a:latin typeface="Calibri"/>
              </a:rPr>
              <a:t>  =  ∫  </a:t>
            </a:r>
            <a:r>
              <a:rPr sz="2400" b="1">
                <a:solidFill>
                  <a:srgbClr val="C55A11"/>
                </a:solidFill>
                <a:latin typeface="Calibri"/>
              </a:rPr>
              <a:t>P(Y | X=x)</a:t>
            </a:r>
            <a:r>
              <a:rPr sz="2400" b="1" baseline="-25000">
                <a:solidFill>
                  <a:srgbClr val="C55A11"/>
                </a:solidFill>
                <a:latin typeface="Calibri"/>
              </a:rPr>
              <a:t>model</a:t>
            </a:r>
            <a:r>
              <a:rPr sz="2400" b="1">
                <a:solidFill>
                  <a:srgbClr val="1F2A44"/>
                </a:solidFill>
                <a:latin typeface="Calibri"/>
              </a:rPr>
              <a:t>  ·  </a:t>
            </a:r>
            <a:r>
              <a:rPr sz="2400" b="1">
                <a:solidFill>
                  <a:srgbClr val="2E75B6"/>
                </a:solidFill>
                <a:latin typeface="Calibri"/>
              </a:rPr>
              <a:t>P(X</a:t>
            </a:r>
            <a:r>
              <a:rPr sz="2400" b="1" baseline="-25000">
                <a:solidFill>
                  <a:srgbClr val="2E75B6"/>
                </a:solidFill>
                <a:latin typeface="Calibri"/>
              </a:rPr>
              <a:t>o</a:t>
            </a:r>
            <a:r>
              <a:rPr sz="2400" b="1">
                <a:solidFill>
                  <a:srgbClr val="2E75B6"/>
                </a:solidFill>
                <a:latin typeface="Calibri"/>
              </a:rPr>
              <a:t>=x)</a:t>
            </a:r>
            <a:r>
              <a:rPr sz="2400" b="1" baseline="-25000">
                <a:solidFill>
                  <a:srgbClr val="2E75B6"/>
                </a:solidFill>
                <a:latin typeface="Calibri"/>
              </a:rPr>
              <a:t>true</a:t>
            </a:r>
            <a:r>
              <a:rPr sz="2400" b="1">
                <a:solidFill>
                  <a:srgbClr val="1F2A44"/>
                </a:solidFill>
                <a:latin typeface="Calibri"/>
              </a:rPr>
              <a:t>  dx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514600"/>
            <a:ext cx="3630168" cy="109728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697480"/>
            <a:ext cx="363016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2E75B6"/>
                </a:solidFill>
                <a:latin typeface="Calibri"/>
              </a:rPr>
              <a:t>Good Data</a:t>
            </a:r>
          </a:p>
        </p:txBody>
      </p:sp>
      <p:pic>
        <p:nvPicPr>
          <p:cNvPr id="9" name="Picture 8" descr="sch-d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" y="3108960"/>
            <a:ext cx="3566160" cy="246888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4279392" y="2514600"/>
            <a:ext cx="3630168" cy="109728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79392" y="2697480"/>
            <a:ext cx="363016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C55A11"/>
                </a:solidFill>
                <a:latin typeface="Calibri"/>
              </a:rPr>
              <a:t>Good Model</a:t>
            </a:r>
          </a:p>
        </p:txBody>
      </p:sp>
      <p:pic>
        <p:nvPicPr>
          <p:cNvPr id="12" name="Picture 11" descr="sch-mod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06824" y="3108960"/>
            <a:ext cx="3566160" cy="246888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8101583" y="2514600"/>
            <a:ext cx="3630168" cy="109728"/>
          </a:xfrm>
          <a:prstGeom prst="rect">
            <a:avLst/>
          </a:prstGeom>
          <a:solidFill>
            <a:srgbClr val="388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01583" y="2697480"/>
            <a:ext cx="363016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388E3C"/>
                </a:solidFill>
                <a:latin typeface="Calibri"/>
              </a:rPr>
              <a:t>Good Prediction</a:t>
            </a:r>
          </a:p>
        </p:txBody>
      </p:sp>
      <p:pic>
        <p:nvPicPr>
          <p:cNvPr id="15" name="Picture 14" descr="sch-predic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9015" y="3108960"/>
            <a:ext cx="3566160" cy="246888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57200" y="5623560"/>
            <a:ext cx="11274552" cy="64008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5623560"/>
            <a:ext cx="11274552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0">
                <a:solidFill>
                  <a:srgbClr val="1F2A44"/>
                </a:solidFill>
                <a:latin typeface="Calibri"/>
              </a:rPr>
              <a:t>Eq. holds only if </a:t>
            </a:r>
            <a:r>
              <a:rPr sz="1700" b="1">
                <a:solidFill>
                  <a:srgbClr val="1F2A44"/>
                </a:solidFill>
                <a:latin typeface="Calibri"/>
              </a:rPr>
              <a:t>X</a:t>
            </a:r>
            <a:r>
              <a:rPr sz="1700" b="1" baseline="-25000">
                <a:solidFill>
                  <a:srgbClr val="1F2A44"/>
                </a:solidFill>
                <a:latin typeface="Calibri"/>
              </a:rPr>
              <a:t>o</a:t>
            </a:r>
            <a:r>
              <a:rPr sz="1700" b="0">
                <a:solidFill>
                  <a:srgbClr val="1F2A44"/>
                </a:solidFill>
                <a:latin typeface="Calibri"/>
              </a:rPr>
              <a:t> stays within the range of </a:t>
            </a:r>
            <a:r>
              <a:rPr sz="1700" b="1">
                <a:solidFill>
                  <a:srgbClr val="1F2A44"/>
                </a:solidFill>
                <a:latin typeface="Calibri"/>
              </a:rPr>
              <a:t>X</a:t>
            </a:r>
            <a:r>
              <a:rPr sz="1700" b="1" baseline="-25000">
                <a:solidFill>
                  <a:srgbClr val="1F2A44"/>
                </a:solidFill>
                <a:latin typeface="Calibri"/>
              </a:rPr>
              <a:t>i</a:t>
            </a:r>
            <a:r>
              <a:rPr sz="1700" b="0">
                <a:solidFill>
                  <a:srgbClr val="1F2A44"/>
                </a:solidFill>
                <a:latin typeface="Calibri"/>
              </a:rPr>
              <a:t> and the true P(Y|X) does not change after training.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1F2A44"/>
                </a:solidFill>
                <a:latin typeface="Calibri"/>
              </a:rPr>
              <a:t>Four Axes: Detect, Respond, Validate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55B66"/>
                </a:solidFill>
                <a:latin typeface="Calibri"/>
              </a:rPr>
              <a:t>Observation pins down when a change happened; levers fit the model while assuming a change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Calibri"/>
              </a:rPr>
              <a:t>3 / 3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08760"/>
            <a:ext cx="5559552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508760"/>
            <a:ext cx="109728" cy="228600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618488"/>
            <a:ext cx="516636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2E75B6"/>
                </a:solidFill>
                <a:latin typeface="Calibri"/>
              </a:rPr>
              <a:t>P(X)  Covariate shift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1F2A44"/>
                </a:solidFill>
                <a:latin typeface="Calibri"/>
              </a:rPr>
              <a:t>Detect: </a:t>
            </a:r>
            <a:r>
              <a:rPr sz="1500" b="0">
                <a:solidFill>
                  <a:srgbClr val="555B66"/>
                </a:solidFill>
                <a:latin typeface="Calibri"/>
              </a:rPr>
              <a:t>PSI·KS·KL; MMD, domain classifier, Hotelling T²·SPE, autoencoder error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1F2A44"/>
                </a:solidFill>
                <a:latin typeface="Calibri"/>
              </a:rPr>
              <a:t>Respond: </a:t>
            </a:r>
            <a:r>
              <a:rPr sz="1500" b="0">
                <a:solidFill>
                  <a:srgbClr val="555B66"/>
                </a:solidFill>
                <a:latin typeface="Calibri"/>
              </a:rPr>
              <a:t>Importance weighting, domain adaptation, metrology sampling plan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1F2A44"/>
                </a:solidFill>
                <a:latin typeface="Calibri"/>
              </a:rPr>
              <a:t>Validate: </a:t>
            </a:r>
            <a:r>
              <a:rPr sz="1500" b="0">
                <a:solidFill>
                  <a:srgbClr val="555B66"/>
                </a:solidFill>
                <a:latin typeface="Calibri"/>
              </a:rPr>
              <a:t>Adversarial validation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2200" y="1508760"/>
            <a:ext cx="5559552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508760"/>
            <a:ext cx="109728" cy="2286000"/>
          </a:xfrm>
          <a:prstGeom prst="rect">
            <a:avLst/>
          </a:prstGeom>
          <a:solidFill>
            <a:srgbClr val="388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618488"/>
            <a:ext cx="516636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388E3C"/>
                </a:solidFill>
                <a:latin typeface="Calibri"/>
              </a:rPr>
              <a:t>P(Y)  Prior shift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1F2A44"/>
                </a:solidFill>
                <a:latin typeface="Calibri"/>
              </a:rPr>
              <a:t>Detect: </a:t>
            </a:r>
            <a:r>
              <a:rPr sz="1500" b="0">
                <a:solidFill>
                  <a:srgbClr val="555B66"/>
                </a:solidFill>
                <a:latin typeface="Calibri"/>
              </a:rPr>
              <a:t>Metrology distribution (KS·PSI), SPC (Shewhart·EWMA), P(Y)pred monitoring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1F2A44"/>
                </a:solidFill>
                <a:latin typeface="Calibri"/>
              </a:rPr>
              <a:t>Respond: </a:t>
            </a:r>
            <a:r>
              <a:rPr sz="1500" b="0">
                <a:solidFill>
                  <a:srgbClr val="555B66"/>
                </a:solidFill>
                <a:latin typeface="Calibri"/>
              </a:rPr>
              <a:t>Target engineering (log, Box-Cox, spatial decomposition), per-group scaling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1F2A44"/>
                </a:solidFill>
                <a:latin typeface="Calibri"/>
              </a:rPr>
              <a:t>Validate: </a:t>
            </a:r>
            <a:r>
              <a:rPr sz="1500" b="0">
                <a:solidFill>
                  <a:srgbClr val="555B66"/>
                </a:solidFill>
                <a:latin typeface="Calibri"/>
              </a:rPr>
              <a:t>Error per spec and per group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977639"/>
            <a:ext cx="5559552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977639"/>
            <a:ext cx="109728" cy="2286000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4087368"/>
            <a:ext cx="516636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C55A11"/>
                </a:solidFill>
                <a:latin typeface="Calibri"/>
              </a:rPr>
              <a:t>P(Y|X)  Concept drift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1F2A44"/>
                </a:solidFill>
                <a:latin typeface="Calibri"/>
              </a:rPr>
              <a:t>Detect: </a:t>
            </a:r>
            <a:r>
              <a:rPr sz="1500" b="0">
                <a:solidFill>
                  <a:srgbClr val="555B66"/>
                </a:solidFill>
                <a:latin typeface="Calibri"/>
              </a:rPr>
              <a:t>Binning CDT, residual CUSUM, Page-Hinkley, ADWIN, windowed I(Xk;Y)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1F2A44"/>
                </a:solidFill>
                <a:latin typeface="Calibri"/>
              </a:rPr>
              <a:t>Respond: </a:t>
            </a:r>
            <a:r>
              <a:rPr sz="1500" b="0">
                <a:solidFill>
                  <a:srgbClr val="555B66"/>
                </a:solidFill>
                <a:latin typeface="Calibri"/>
              </a:rPr>
              <a:t>Recent-window retraining, recency weighting, adaptive VM update, Z(t) proxies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1F2A44"/>
                </a:solidFill>
                <a:latin typeface="Calibri"/>
              </a:rPr>
              <a:t>Validate: </a:t>
            </a:r>
            <a:r>
              <a:rPr sz="1500" b="0">
                <a:solidFill>
                  <a:srgbClr val="555B66"/>
                </a:solidFill>
                <a:latin typeface="Calibri"/>
              </a:rPr>
              <a:t>Temporal CV, lot group split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2200" y="3977639"/>
            <a:ext cx="5559552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3977639"/>
            <a:ext cx="109728" cy="2286000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4087368"/>
            <a:ext cx="516636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6A4C93"/>
                </a:solidFill>
                <a:latin typeface="Calibri"/>
              </a:rPr>
              <a:t>Model estimator  (orthogonal)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1F2A44"/>
                </a:solidFill>
                <a:latin typeface="Calibri"/>
              </a:rPr>
              <a:t>Detect: </a:t>
            </a:r>
            <a:r>
              <a:rPr sz="1500" b="0">
                <a:solidFill>
                  <a:srgbClr val="555B66"/>
                </a:solidFill>
                <a:latin typeface="Calibri"/>
              </a:rPr>
              <a:t>Train–validation gap; windowed R²·RMSE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1F2A44"/>
                </a:solidFill>
                <a:latin typeface="Calibri"/>
              </a:rPr>
              <a:t>Respond: </a:t>
            </a:r>
            <a:r>
              <a:rPr sz="1500" b="0">
                <a:solidFill>
                  <a:srgbClr val="555B66"/>
                </a:solidFill>
                <a:latin typeface="Calibri"/>
              </a:rPr>
              <a:t>PLS·ridge·lasso, tree ensembles, GP·conformal, physics hybrid, Optuna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1F2A44"/>
                </a:solidFill>
                <a:latin typeface="Calibri"/>
              </a:rPr>
              <a:t>Validate: </a:t>
            </a:r>
            <a:r>
              <a:rPr sz="1500" b="0">
                <a:solidFill>
                  <a:srgbClr val="555B66"/>
                </a:solidFill>
                <a:latin typeface="Calibri"/>
              </a:rPr>
              <a:t>Lot group split + temporal CV; R², RMSE, interval coverage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