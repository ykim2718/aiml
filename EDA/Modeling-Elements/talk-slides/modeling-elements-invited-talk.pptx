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Calibri"/>
              </a:rPr>
              <a:t>Modeling Elements from Joint Distribution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A taxonomy linking data, model and prediction of manufacturing AI/ML to distribution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Calibri"/>
              </a:rPr>
              <a:t>1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Calibri"/>
              </a:rPr>
              <a:t>Good predictions come from good data and good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108960" cy="12344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P(X)  Good Data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data marginal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covariate 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514600"/>
            <a:ext cx="3108960" cy="123444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P(Y|X)  Good Model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conditional relation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concept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434840"/>
            <a:ext cx="3108960" cy="1234440"/>
          </a:xfrm>
          <a:prstGeom prst="round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P(Y)  Good Prediction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output marginal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prior shift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749039"/>
            <a:ext cx="1188720" cy="685801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937760" y="3749039"/>
            <a:ext cx="1188720" cy="685801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576072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A4C93"/>
                </a:solidFill>
                <a:latin typeface="Calibri"/>
              </a:rPr>
              <a:t>Model estimator: orthogonal axis, how P(Y|X) is estimated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3566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Chain rule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Calibri"/>
              </a:rPr>
              <a:t>P(X,Y) = P(Y|X) · P(X)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Marginalization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Calibri"/>
              </a:rPr>
              <a:t>P(Y) = ∫ P(Y|X) P(X) dX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Manufacturing is X → Y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A shift in P(Y) is mostly the result of a change in P(X) or P(Y|X).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Calibri"/>
              </a:rPr>
              <a:t>Prediction from the Joint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Training data Xi (in-sample) and inference data Xo (out-of-sample) kept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Calibri"/>
              </a:rPr>
              <a:t>2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88E3C"/>
                </a:solidFill>
                <a:latin typeface="Calibri"/>
              </a:rPr>
              <a:t>P(Y)</a:t>
            </a:r>
            <a:r>
              <a:rPr sz="2400" b="1" baseline="-25000">
                <a:solidFill>
                  <a:srgbClr val="388E3C"/>
                </a:solidFill>
                <a:latin typeface="Calibri"/>
              </a:rPr>
              <a:t>pred</a:t>
            </a:r>
            <a:r>
              <a:rPr sz="2400" b="1">
                <a:solidFill>
                  <a:srgbClr val="1F2A44"/>
                </a:solidFill>
                <a:latin typeface="Calibri"/>
              </a:rPr>
              <a:t>  =  ∫  </a:t>
            </a:r>
            <a:r>
              <a:rPr sz="2400" b="1">
                <a:solidFill>
                  <a:srgbClr val="C55A11"/>
                </a:solidFill>
                <a:latin typeface="Calibri"/>
              </a:rPr>
              <a:t>P(Y | X=x; X</a:t>
            </a:r>
            <a:r>
              <a:rPr sz="2400" b="1" baseline="-25000">
                <a:solidFill>
                  <a:srgbClr val="C55A11"/>
                </a:solidFill>
                <a:latin typeface="Calibri"/>
              </a:rPr>
              <a:t>i</a:t>
            </a:r>
            <a:r>
              <a:rPr sz="2400" b="1">
                <a:solidFill>
                  <a:srgbClr val="C55A11"/>
                </a:solidFill>
                <a:latin typeface="Calibri"/>
              </a:rPr>
              <a:t>)</a:t>
            </a:r>
            <a:r>
              <a:rPr sz="2400" b="1" baseline="-25000">
                <a:solidFill>
                  <a:srgbClr val="C55A11"/>
                </a:solidFill>
                <a:latin typeface="Calibri"/>
              </a:rPr>
              <a:t>model</a:t>
            </a:r>
            <a:r>
              <a:rPr sz="2400" b="1">
                <a:solidFill>
                  <a:srgbClr val="1F2A44"/>
                </a:solidFill>
                <a:latin typeface="Calibri"/>
              </a:rPr>
              <a:t>  ·  </a:t>
            </a:r>
            <a:r>
              <a:rPr sz="2400" b="1">
                <a:solidFill>
                  <a:srgbClr val="2E75B6"/>
                </a:solidFill>
                <a:latin typeface="Calibri"/>
              </a:rPr>
              <a:t>P(X</a:t>
            </a:r>
            <a:r>
              <a:rPr sz="2400" b="1" baseline="-25000">
                <a:solidFill>
                  <a:srgbClr val="2E75B6"/>
                </a:solidFill>
                <a:latin typeface="Calibri"/>
              </a:rPr>
              <a:t>o</a:t>
            </a:r>
            <a:r>
              <a:rPr sz="2400" b="1">
                <a:solidFill>
                  <a:srgbClr val="2E75B6"/>
                </a:solidFill>
                <a:latin typeface="Calibri"/>
              </a:rPr>
              <a:t>=x)</a:t>
            </a:r>
            <a:r>
              <a:rPr sz="2400" b="1" baseline="-25000">
                <a:solidFill>
                  <a:srgbClr val="2E75B6"/>
                </a:solidFill>
                <a:latin typeface="Calibri"/>
              </a:rPr>
              <a:t>true</a:t>
            </a:r>
            <a:r>
              <a:rPr sz="2400" b="1">
                <a:solidFill>
                  <a:srgbClr val="1F2A44"/>
                </a:solidFill>
                <a:latin typeface="Calibri"/>
              </a:rPr>
              <a:t>  dx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363016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630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Good Data</a:t>
            </a:r>
          </a:p>
        </p:txBody>
      </p:sp>
      <p:pic>
        <p:nvPicPr>
          <p:cNvPr id="9" name="Picture 8" descr="sch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108960"/>
            <a:ext cx="356616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79392" y="2514600"/>
            <a:ext cx="363016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2697480"/>
            <a:ext cx="3630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Calibri"/>
              </a:rPr>
              <a:t>Good Model</a:t>
            </a:r>
          </a:p>
        </p:txBody>
      </p:sp>
      <p:pic>
        <p:nvPicPr>
          <p:cNvPr id="12" name="Picture 11" descr="sch-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3108960"/>
            <a:ext cx="3566160" cy="24688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01583" y="2514600"/>
            <a:ext cx="3630168" cy="109728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697480"/>
            <a:ext cx="3630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8E3C"/>
                </a:solidFill>
                <a:latin typeface="Calibri"/>
              </a:rPr>
              <a:t>Good Prediction</a:t>
            </a:r>
          </a:p>
        </p:txBody>
      </p:sp>
      <p:pic>
        <p:nvPicPr>
          <p:cNvPr id="15" name="Picture 14" descr="sch-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5" y="3108960"/>
            <a:ext cx="3566160" cy="24688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Calibri"/>
              </a:rPr>
              <a:t>Eq. holds only if </a:t>
            </a:r>
            <a:r>
              <a:rPr sz="1700" b="1">
                <a:solidFill>
                  <a:srgbClr val="1F2A44"/>
                </a:solidFill>
                <a:latin typeface="Calibri"/>
              </a:rPr>
              <a:t>X</a:t>
            </a:r>
            <a:r>
              <a:rPr sz="1700" b="1" baseline="-25000">
                <a:solidFill>
                  <a:srgbClr val="1F2A44"/>
                </a:solidFill>
                <a:latin typeface="Calibri"/>
              </a:rPr>
              <a:t>o</a:t>
            </a:r>
            <a:r>
              <a:rPr sz="1700" b="0">
                <a:solidFill>
                  <a:srgbClr val="1F2A44"/>
                </a:solidFill>
                <a:latin typeface="Calibri"/>
              </a:rPr>
              <a:t> stays within the range of </a:t>
            </a:r>
            <a:r>
              <a:rPr sz="1700" b="1">
                <a:solidFill>
                  <a:srgbClr val="1F2A44"/>
                </a:solidFill>
                <a:latin typeface="Calibri"/>
              </a:rPr>
              <a:t>X</a:t>
            </a:r>
            <a:r>
              <a:rPr sz="1700" b="1" baseline="-25000">
                <a:solidFill>
                  <a:srgbClr val="1F2A44"/>
                </a:solidFill>
                <a:latin typeface="Calibri"/>
              </a:rPr>
              <a:t>i</a:t>
            </a:r>
            <a:r>
              <a:rPr sz="1700" b="0">
                <a:solidFill>
                  <a:srgbClr val="1F2A44"/>
                </a:solidFill>
                <a:latin typeface="Calibri"/>
              </a:rPr>
              <a:t> and the true P(Y|X) does not change after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Calibri"/>
              </a:rPr>
              <a:t>Four Axes: Detect, Respond,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Observation pins down when a change happened; levers fit the model while assuming a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Calibri"/>
              </a:rPr>
              <a:t>3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" cy="2286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E75B6"/>
                </a:solidFill>
                <a:latin typeface="Calibri"/>
              </a:rPr>
              <a:t>P(X)  Covariate shift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PSI·KS·KL; MMD, domain classifier, Hotelling T²·SPE, autoencoder error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Importance weighting, domain adaptation, metrology sampling plan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Adversarial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508760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109728" cy="228600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1848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8E3C"/>
                </a:solidFill>
                <a:latin typeface="Calibri"/>
              </a:rPr>
              <a:t>P(Y)  Prior shift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Metrology distribution (KS·PSI), SPC (Shewhart·EWMA), P(Y)pred monitoring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Target engineering (log, Box-Cox, spatial decomposition), per-group scaling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Error per spec and per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77639"/>
            <a:ext cx="109728" cy="2286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8736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C55A11"/>
                </a:solidFill>
                <a:latin typeface="Calibri"/>
              </a:rPr>
              <a:t>P(Y|X)  Concept drift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Binning CDT, residual CUSUM, Page-Hinkley, ADWIN, windowed I(Xk;Y)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Recent-window retraining, recency weighting, adaptive VM update, Z(t) proxies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Temporal CV, lot group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77639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109728" cy="2286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8736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A4C93"/>
                </a:solidFill>
                <a:latin typeface="Calibri"/>
              </a:rPr>
              <a:t>Model estimator  (orthogonal)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Train–validation gap; windowed R²·RMSE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PLS·ridge·lasso, tree ensembles, GP·conformal, physics hybrid, Optuna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Lot group split + temporal CV; R², RMSE, interval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